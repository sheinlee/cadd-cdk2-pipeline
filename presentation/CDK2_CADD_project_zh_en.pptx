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CDK2 Structure-Based Virtual Screening</a:t>
            </a:r>
          </a:p>
          <a:p>
            <a:pPr algn="l">
              <a:spcAft>
                <a:spcPts val="1800"/>
              </a:spcAft>
            </a:pPr>
            <a:r>
              <a:rPr sz="18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Docking → MD → MM-GBSA → FEP   ·   an end-to-end, reproducible CADD pipeline</a:t>
            </a:r>
          </a:p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CDK2 基于结构的虚拟筛选 —— 对接→分子动力学→MM-GBSA→自由能微扰 全流程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自主实践项目 / Self-initiated project    ·    李仕成 Shicheng Li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9DC3E6"/>
                </a:solidFill>
                <a:latin typeface="Microsoft YaHei"/>
                <a:ea typeface="Microsoft YaHei"/>
                <a:cs typeface="Microsoft YaHei"/>
              </a:rPr>
              <a:t>github.com/sheinlee/cadd-cdk2-pipeline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09728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Motivation</a:t>
            </a:r>
          </a:p>
          <a:p>
            <a:r>
              <a:rPr sz="18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项目动机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•  跨领域迁移:把已有的 OpenMM/MD 与生成式 ML 长板瞄准药物结合问题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    Transfer existing MD + generative-ML strengths to a drug-binding problem</a:t>
            </a:r>
          </a:p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•  目标:独立搭建并跑通工业标准的 CADD 全流程,并对结果有批判性解读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    Build &amp; run a full, reproducible, industry-standard CADD workflow end-to-end</a:t>
            </a:r>
          </a:p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•  诚实定位:能力展示,而非新药发现的主张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    Honest framing: a capability demonstration, NOT a drug-discovery claim</a:t>
            </a:r>
          </a:p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•  一切开源、脚本化、可一键复现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    Everything open-source, scripted, and reproducible from the repo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09728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Target — CDK2</a:t>
            </a:r>
          </a:p>
          <a:p>
            <a:r>
              <a:rPr sz="18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靶点 —— 细胞周期蛋白依赖性激酶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•  CDK2:经典抗肿瘤激酶靶点;晶体结构 PDB 2R3I(1.28 Å,单体)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    Classic oncology kinase; crystal structure 2R3I (1.28 Å, monomeric)</a:t>
            </a:r>
          </a:p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•  选它的理由:ATP 口袋深而规整(docking 友好)、抑制剂非共价(匹配方法)、公开数据多、体系小(单卡可跑)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    Deep well-defined ATP pocket, non-covalent inhibitors, rich public data, small system</a:t>
            </a:r>
          </a:p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•  受体准备:还原氧化半胱氨酸 CSD177→CYS、重建无序 β3/αC loop、依共晶配体定义对接盒子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    Receptor prep: CSD177→CYS, rebuilt β3/αC loop, ATP-site box from the co-crystal ligand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09728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Pipeline overview</a:t>
            </a:r>
          </a:p>
          <a:p>
            <a:r>
              <a:rPr sz="18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总体流程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•  0 受体准备 (PDBFixer)  →  1 配体库:DUD-E 60 actives + 240 属性匹配 decoys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    Receptor prep → ligand library (DUD-E actives + matched decoys)</a:t>
            </a:r>
          </a:p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•  2 对接 AutoDock Vina  →  富集 / ROC 验证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    Docking (AutoDock Vina) → enrichment / ROC validation</a:t>
            </a:r>
          </a:p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•  3 短 MD (OpenMM, 4 ns, 显式溶剂)  →  pose 稳定性过滤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    Short explicit-solvent MD (OpenMM) → pose-stability filter</a:t>
            </a:r>
          </a:p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•  4 MM-GBSA 端点重排 (AmberTools) + 每残基分解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    MM-GBSA endpoint rescoring (AmberTools) + per-residue decomposition</a:t>
            </a:r>
          </a:p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•  验证track:相对结合 FEP (OpenFE) 对照实验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    Validation track: relative binding FEP (OpenFE) vs experiment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09728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Stage 1 — Docking enrichment</a:t>
            </a:r>
          </a:p>
          <a:p>
            <a:r>
              <a:rPr sz="18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第一步:对接富集验证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 300 配体(60 actives + 240 匹配 decoys)  —  300 ligands, 60 actives / 240 matched decoys</a:t>
            </a:r>
          </a:p>
          <a:p>
            <a:pPr algn="l">
              <a:spcAft>
                <a:spcPts val="400"/>
              </a:spcAft>
            </a:pPr>
            <a:r>
              <a:rPr sz="14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 ROC-AUC 0.61,EF1% 3.3;原生 SCF 回docking −8.98(阳性对照)  —  ROC-AUC 0.61, EF1% 3.3; native SCF redock −8.98 (control)</a:t>
            </a:r>
          </a:p>
          <a:p>
            <a:pPr algn="l">
              <a:spcAft>
                <a:spcPts val="400"/>
              </a:spcAft>
            </a:pPr>
            <a:r>
              <a:rPr sz="14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 结论:单构象刚性对接富集温和但真实 → top hits 需物理打分重排  —  Modest-but-real enrichment → top hits motivate physics-based rescoring</a:t>
            </a:r>
          </a:p>
        </p:txBody>
      </p:sp>
      <p:pic>
        <p:nvPicPr>
          <p:cNvPr id="4" name="Picture 3" descr="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834640"/>
            <a:ext cx="3931920" cy="3931920"/>
          </a:xfrm>
          <a:prstGeom prst="rect">
            <a:avLst/>
          </a:prstGeom>
        </p:spPr>
      </p:pic>
      <p:pic>
        <p:nvPicPr>
          <p:cNvPr id="5" name="Picture 4" descr="scor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834640"/>
            <a:ext cx="4389120" cy="35112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09728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Stage 2 — MD pose filter + MM-GBSA rescoring</a:t>
            </a:r>
          </a:p>
          <a:p>
            <a:r>
              <a:rPr sz="18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第二步:MD 稳定性过滤 + MM-GBSA 重排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 top 8 hits 各 4 ns 显式溶剂 MD:5/8 稳定,3 个漂移  —  8 hits × 4 ns MD: 5/8 poses stable, 3 drift out</a:t>
            </a:r>
          </a:p>
          <a:p>
            <a:pPr algn="l">
              <a:spcAft>
                <a:spcPts val="400"/>
              </a:spcAft>
            </a:pPr>
            <a:r>
              <a:rPr sz="14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 MM-GBSA 把 Vina 的窄分数拉开 ~16 kcal/mol;best = 真实 active CHEMBL148580 (−53 kcal/mol)  —  MM-GBSA spreads the scores; best hit is a true active (−53 kcal/mol)</a:t>
            </a:r>
          </a:p>
          <a:p>
            <a:pPr algn="l">
              <a:spcAft>
                <a:spcPts val="400"/>
              </a:spcAft>
            </a:pPr>
            <a:r>
              <a:rPr sz="14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 关键:MM-GBSA 排第2的 decoy 在 MD 中漂出口袋 → 被动力学揪出的假阳性  —  A high-MM-GBSA decoy drifts out of the pocket — a false positive caught by dynamics</a:t>
            </a:r>
          </a:p>
        </p:txBody>
      </p:sp>
      <p:pic>
        <p:nvPicPr>
          <p:cNvPr id="4" name="Picture 3" descr="docking_vs_mmgb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788920"/>
            <a:ext cx="4206240" cy="3533242"/>
          </a:xfrm>
          <a:prstGeom prst="rect">
            <a:avLst/>
          </a:prstGeom>
        </p:spPr>
      </p:pic>
      <p:pic>
        <p:nvPicPr>
          <p:cNvPr id="5" name="Picture 4" descr="rmsd_sta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788920"/>
            <a:ext cx="4663440" cy="339159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09728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Binding hotspots — per-residue MM-GBSA</a:t>
            </a:r>
          </a:p>
          <a:p>
            <a:r>
              <a:rPr sz="18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结合热点 —— 每残基能量分解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 自动识别配体周围口袋残基并做能量分解  —  Pocket residues auto-detected; per-residue MM-GBSA decomposition</a:t>
            </a:r>
          </a:p>
          <a:p>
            <a:pPr algn="l">
              <a:spcAft>
                <a:spcPts val="400"/>
              </a:spcAft>
            </a:pPr>
            <a:r>
              <a:rPr sz="14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 定位到 hinge(Gln131/Asn132/Leu134)、催化 Lys33、Gly-rich 区 → 与已知 CDK2 药效团一致  —  Localises to the hinge, catalytic Lys33 and Gly-rich loop — consistent with known CDK2 pharmacophores</a:t>
            </a:r>
          </a:p>
        </p:txBody>
      </p:sp>
      <p:pic>
        <p:nvPicPr>
          <p:cNvPr id="4" name="Picture 3" descr="mmgbsa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2697480"/>
            <a:ext cx="4206240" cy="33649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09728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Stage 3 — Relative binding FEP (the differentiator)</a:t>
            </a:r>
          </a:p>
          <a:p>
            <a:r>
              <a:rPr sz="18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第三步:相对结合 FEP(差异化王牌)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 OpenFE:OpenMM hybrid-topology RBFE + Hamiltonian replica exchange + MBAR  —  OpenFE: OpenMM hybrid-topology RBFE + HREX + MBAR — the community-standard protocol</a:t>
            </a:r>
          </a:p>
          <a:p>
            <a:pPr algn="l">
              <a:spcAft>
                <a:spcPts val="400"/>
              </a:spcAft>
            </a:pPr>
            <a:r>
              <a:rPr sz="14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 JACS/Wang-2015 CDK2 基准,3 条 edge:MUE 0.71 / RMSE 1.1 / r 0.78;2/3 与实验差 ~0.2 kcal/mol  —  JACS CDK2 benchmark, 3 edges: MUE 0.71 / RMSE 1.1 / r 0.78</a:t>
            </a:r>
          </a:p>
          <a:p>
            <a:pPr algn="l">
              <a:spcAft>
                <a:spcPts val="400"/>
              </a:spcAft>
            </a:pPr>
            <a:r>
              <a:rPr sz="14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 诚实:3 edge、repeats=1 为演示;lig_20→17 跑偏,如实报告、不挑结果  —  Honest: 3-edge single-repeat demo; one edge misses — reported, not cherry-picked</a:t>
            </a:r>
          </a:p>
        </p:txBody>
      </p:sp>
      <p:pic>
        <p:nvPicPr>
          <p:cNvPr id="4" name="Picture 3" descr="fep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697480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09728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Engineering — real problems solved</a:t>
            </a:r>
          </a:p>
          <a:p>
            <a:r>
              <a:rPr sz="18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工程能力 —— 真实踩坑与解决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•  ChEMBL API 宕机/脆弱查询 → 改用稳定的 DUD-E 基准(保留 ChEMBL 备选)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    ChEMBL outage → switched to the static DUD-E benchmark (ChEMBL kept as fallback)</a:t>
            </a:r>
          </a:p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•  OpenMM CUDA PTX 版本不匹配 → 把 cuda-version 钉到 12.6 对齐驱动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    OpenMM CUDA UNSUPPORTED_PTX_VERSION → pinned cuda-version=12.6 to the driver</a:t>
            </a:r>
          </a:p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•  OpenBabel 从 pdbqt 错误感知键级(五价 N)→ 用 Meeko 直接重建分子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    OpenBabel mis-perceived bonds → reconstruct the ligand with Meeko</a:t>
            </a:r>
          </a:p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•  MMPBSA print_res 语法不兼容 → 自动计算口袋残基 + 失败回退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    MMPBSA print_res incompatibility → auto-compute pocket residues with graceful fallback</a:t>
            </a:r>
          </a:p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•  bash ( set -e ) || 陷阱(静默失效)→ 改用 &amp;&amp; 链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    set -e silently disabled in a || context → replaced with explicit &amp;&amp; chaining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09728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Honest assessment &amp; limitations</a:t>
            </a:r>
          </a:p>
          <a:p>
            <a:r>
              <a:rPr sz="18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诚实评估与局限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•  方法演示,非统计基准:库 300、FEP 3 edges、repeats=1、每 hit 单条 MD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    A methods demo, not a benchmark: small library, 3 FEP edges, single repeats</a:t>
            </a:r>
          </a:p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•  MM-GBSA 绝对值未校准,仅相对排序有意义;FEP 那段已对照基准实验值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    MM-GBSA absolutes uncalibrated (relative only); FEP is validated against experiment</a:t>
            </a:r>
          </a:p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•  生产级下一步:扩库、全 edge 网络 + ≥3 repeats、增强采样、刚性受体→柔性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    Production next steps: larger library, full edge network with ≥3 repeats, receptor flexibility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09728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Summary — skills demonstrated</a:t>
            </a:r>
          </a:p>
          <a:p>
            <a:r>
              <a:rPr sz="18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总结 —— 展示的能力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• 全流程能力:结构准备 · 虚拟筛选 · 分子动力学 · 自由能(端点 MM-GBSA + 炼金术 FEP) · HPC/SLURM · Python 工程 · 可复现开源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  End-to-end: structure prep · virtual screening · MD · free energy (MM-GBSA + alchemical FEP) · HPC/SLURM · reproducible open source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• 工具链 Toolchain:RDKit · AutoDock Vina · Meeko · OpenMM · AmberTools · OpenFE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• 关键结果 Key results:docking AUC 0.61 / EF1% 3.3  ·  MM-GBSA 命中真实 active −53 kcal/mol  ·  FEP MUE 0.71 kcal/mol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github.com/sheinlee/cadd-cdk2-pipeline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707070"/>
                </a:solidFill>
                <a:latin typeface="Microsoft YaHei"/>
                <a:ea typeface="Microsoft YaHei"/>
                <a:cs typeface="Microsoft YaHei"/>
              </a:rPr>
              <a:t>李仕成 Shicheng Li  ·  shichengli97@gmail.com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